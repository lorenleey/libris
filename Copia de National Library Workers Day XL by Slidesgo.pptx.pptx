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bril Fatface" charset="1" panose="02000503000000020003"/>
      <p:regular r:id="rId18"/>
    </p:embeddedFont>
    <p:embeddedFont>
      <p:font typeface="Inter" charset="1" panose="020B0502030000000004"/>
      <p:regular r:id="rId19"/>
    </p:embeddedFont>
    <p:embeddedFont>
      <p:font typeface="Inter Bold" charset="1" panose="020B08020300000000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Note: you can add between 3 and 6 sections, the structure can vary. The numbers have to be kept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15" Target="../media/image13.png" Type="http://schemas.openxmlformats.org/officeDocument/2006/relationships/image"/><Relationship Id="rId16" Target="../media/image14.svg" Type="http://schemas.openxmlformats.org/officeDocument/2006/relationships/image"/><Relationship Id="rId17" Target="../media/image15.png" Type="http://schemas.openxmlformats.org/officeDocument/2006/relationships/image"/><Relationship Id="rId18" Target="../media/image16.sv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svg" Type="http://schemas.openxmlformats.org/officeDocument/2006/relationships/image"/><Relationship Id="rId11" Target="../media/image36.png" Type="http://schemas.openxmlformats.org/officeDocument/2006/relationships/image"/><Relationship Id="rId12" Target="../media/image37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30.png" Type="http://schemas.openxmlformats.org/officeDocument/2006/relationships/image"/><Relationship Id="rId6" Target="../media/image31.sv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svg" Type="http://schemas.openxmlformats.org/officeDocument/2006/relationships/image"/><Relationship Id="rId11" Target="../media/image46.png" Type="http://schemas.openxmlformats.org/officeDocument/2006/relationships/image"/><Relationship Id="rId12" Target="../media/image47.svg" Type="http://schemas.openxmlformats.org/officeDocument/2006/relationships/image"/><Relationship Id="rId13" Target="../media/image48.png" Type="http://schemas.openxmlformats.org/officeDocument/2006/relationships/image"/><Relationship Id="rId14" Target="../media/image49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38.png" Type="http://schemas.openxmlformats.org/officeDocument/2006/relationships/image"/><Relationship Id="rId4" Target="../media/image39.sv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Relationship Id="rId7" Target="../media/image42.png" Type="http://schemas.openxmlformats.org/officeDocument/2006/relationships/image"/><Relationship Id="rId8" Target="../media/image43.sv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50.png" Type="http://schemas.openxmlformats.org/officeDocument/2006/relationships/image"/><Relationship Id="rId6" Target="../media/image51.png" Type="http://schemas.openxmlformats.org/officeDocument/2006/relationships/image"/><Relationship Id="rId7" Target="../media/image52.svg" Type="http://schemas.openxmlformats.org/officeDocument/2006/relationships/image"/><Relationship Id="rId8" Target="../media/image53.png" Type="http://schemas.openxmlformats.org/officeDocument/2006/relationships/image"/><Relationship Id="rId9" Target="../media/image5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55.png" Type="http://schemas.openxmlformats.org/officeDocument/2006/relationships/image"/><Relationship Id="rId4" Target="../media/image56.svg" Type="http://schemas.openxmlformats.org/officeDocument/2006/relationships/image"/><Relationship Id="rId5" Target="../media/image57.png" Type="http://schemas.openxmlformats.org/officeDocument/2006/relationships/image"/><Relationship Id="rId6" Target="../media/image58.svg" Type="http://schemas.openxmlformats.org/officeDocument/2006/relationships/image"/><Relationship Id="rId7" Target="../media/image59.png" Type="http://schemas.openxmlformats.org/officeDocument/2006/relationships/image"/><Relationship Id="rId8" Target="../media/image60.sv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png" Type="http://schemas.openxmlformats.org/officeDocument/2006/relationships/image"/><Relationship Id="rId11" Target="../media/image65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22.png" Type="http://schemas.openxmlformats.org/officeDocument/2006/relationships/image"/><Relationship Id="rId4" Target="../media/image62.svg" Type="http://schemas.openxmlformats.org/officeDocument/2006/relationships/image"/><Relationship Id="rId5" Target="../media/image63.pn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55.png" Type="http://schemas.openxmlformats.org/officeDocument/2006/relationships/image"/><Relationship Id="rId4" Target="../media/image56.svg" Type="http://schemas.openxmlformats.org/officeDocument/2006/relationships/image"/><Relationship Id="rId5" Target="../media/image66.png" Type="http://schemas.openxmlformats.org/officeDocument/2006/relationships/image"/><Relationship Id="rId6" Target="../media/image67.svg" Type="http://schemas.openxmlformats.org/officeDocument/2006/relationships/image"/><Relationship Id="rId7" Target="../media/image36.png" Type="http://schemas.openxmlformats.org/officeDocument/2006/relationships/image"/><Relationship Id="rId8" Target="../media/image37.svg" Type="http://schemas.openxmlformats.org/officeDocument/2006/relationships/image"/><Relationship Id="rId9" Target="../media/image3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0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80250" y="-19050"/>
            <a:ext cx="20448476" cy="10297300"/>
          </a:xfrm>
          <a:custGeom>
            <a:avLst/>
            <a:gdLst/>
            <a:ahLst/>
            <a:cxnLst/>
            <a:rect r="r" b="b" t="t" l="l"/>
            <a:pathLst>
              <a:path h="10297300" w="20448476">
                <a:moveTo>
                  <a:pt x="0" y="0"/>
                </a:moveTo>
                <a:lnTo>
                  <a:pt x="20448476" y="0"/>
                </a:lnTo>
                <a:lnTo>
                  <a:pt x="20448476" y="10297300"/>
                </a:lnTo>
                <a:lnTo>
                  <a:pt x="0" y="10297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54825" y="4614705"/>
            <a:ext cx="13378350" cy="1539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80"/>
              </a:lnSpc>
            </a:pPr>
            <a:r>
              <a:rPr lang="en-US" sz="11000">
                <a:solidFill>
                  <a:srgbClr val="FFF0D7"/>
                </a:solidFill>
                <a:latin typeface="Abril Fatface"/>
                <a:ea typeface="Abril Fatface"/>
                <a:cs typeface="Abril Fatface"/>
                <a:sym typeface="Abril Fatface"/>
              </a:rPr>
              <a:t>Libris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06625" y="6919163"/>
            <a:ext cx="887475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FFF0D7"/>
                </a:solidFill>
                <a:latin typeface="Inter"/>
                <a:ea typeface="Inter"/>
                <a:cs typeface="Inter"/>
                <a:sym typeface="Inter"/>
              </a:rPr>
              <a:t>SQL Server 2025 - DP800</a:t>
            </a:r>
          </a:p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FFF0D7"/>
                </a:solidFill>
                <a:latin typeface="Inter"/>
                <a:ea typeface="Inter"/>
                <a:cs typeface="Inter"/>
                <a:sym typeface="Inter"/>
              </a:rPr>
              <a:t>Lorenley Rodriguez</a:t>
            </a:r>
          </a:p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FFF0D7"/>
                </a:solidFill>
                <a:latin typeface="Inter"/>
                <a:ea typeface="Inter"/>
                <a:cs typeface="Inter"/>
                <a:sym typeface="Inter"/>
              </a:rPr>
              <a:t>Octubre 2026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426526" y="1704084"/>
            <a:ext cx="6537550" cy="760398"/>
          </a:xfrm>
          <a:custGeom>
            <a:avLst/>
            <a:gdLst/>
            <a:ahLst/>
            <a:cxnLst/>
            <a:rect r="r" b="b" t="t" l="l"/>
            <a:pathLst>
              <a:path h="760398" w="6537550">
                <a:moveTo>
                  <a:pt x="0" y="0"/>
                </a:moveTo>
                <a:lnTo>
                  <a:pt x="6537550" y="0"/>
                </a:lnTo>
                <a:lnTo>
                  <a:pt x="6537550" y="760398"/>
                </a:lnTo>
                <a:lnTo>
                  <a:pt x="0" y="7603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76552" y="7063514"/>
            <a:ext cx="1429872" cy="1942400"/>
          </a:xfrm>
          <a:custGeom>
            <a:avLst/>
            <a:gdLst/>
            <a:ahLst/>
            <a:cxnLst/>
            <a:rect r="r" b="b" t="t" l="l"/>
            <a:pathLst>
              <a:path h="1942400" w="1429872">
                <a:moveTo>
                  <a:pt x="0" y="0"/>
                </a:moveTo>
                <a:lnTo>
                  <a:pt x="1429872" y="0"/>
                </a:lnTo>
                <a:lnTo>
                  <a:pt x="1429872" y="1942400"/>
                </a:lnTo>
                <a:lnTo>
                  <a:pt x="0" y="1942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15774" y="7568174"/>
            <a:ext cx="776920" cy="776928"/>
          </a:xfrm>
          <a:custGeom>
            <a:avLst/>
            <a:gdLst/>
            <a:ahLst/>
            <a:cxnLst/>
            <a:rect r="r" b="b" t="t" l="l"/>
            <a:pathLst>
              <a:path h="776928" w="776920">
                <a:moveTo>
                  <a:pt x="0" y="0"/>
                </a:moveTo>
                <a:lnTo>
                  <a:pt x="776920" y="0"/>
                </a:lnTo>
                <a:lnTo>
                  <a:pt x="776920" y="776928"/>
                </a:lnTo>
                <a:lnTo>
                  <a:pt x="0" y="77692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789302" y="7066734"/>
            <a:ext cx="1429872" cy="1942400"/>
          </a:xfrm>
          <a:custGeom>
            <a:avLst/>
            <a:gdLst/>
            <a:ahLst/>
            <a:cxnLst/>
            <a:rect r="r" b="b" t="t" l="l"/>
            <a:pathLst>
              <a:path h="1942400" w="1429872">
                <a:moveTo>
                  <a:pt x="0" y="0"/>
                </a:moveTo>
                <a:lnTo>
                  <a:pt x="1429872" y="0"/>
                </a:lnTo>
                <a:lnTo>
                  <a:pt x="1429872" y="1942400"/>
                </a:lnTo>
                <a:lnTo>
                  <a:pt x="0" y="19424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193460" y="8207072"/>
            <a:ext cx="1590332" cy="803286"/>
          </a:xfrm>
          <a:custGeom>
            <a:avLst/>
            <a:gdLst/>
            <a:ahLst/>
            <a:cxnLst/>
            <a:rect r="r" b="b" t="t" l="l"/>
            <a:pathLst>
              <a:path h="803286" w="1590332">
                <a:moveTo>
                  <a:pt x="0" y="0"/>
                </a:moveTo>
                <a:lnTo>
                  <a:pt x="1590332" y="0"/>
                </a:lnTo>
                <a:lnTo>
                  <a:pt x="1590332" y="803286"/>
                </a:lnTo>
                <a:lnTo>
                  <a:pt x="0" y="80328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323926" y="1704084"/>
            <a:ext cx="6537550" cy="760398"/>
          </a:xfrm>
          <a:custGeom>
            <a:avLst/>
            <a:gdLst/>
            <a:ahLst/>
            <a:cxnLst/>
            <a:rect r="r" b="b" t="t" l="l"/>
            <a:pathLst>
              <a:path h="760398" w="6537550">
                <a:moveTo>
                  <a:pt x="0" y="0"/>
                </a:moveTo>
                <a:lnTo>
                  <a:pt x="6537550" y="0"/>
                </a:lnTo>
                <a:lnTo>
                  <a:pt x="6537550" y="760398"/>
                </a:lnTo>
                <a:lnTo>
                  <a:pt x="0" y="76039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7100" y="2459550"/>
            <a:ext cx="18287984" cy="156002"/>
            <a:chOff x="0" y="0"/>
            <a:chExt cx="24383979" cy="2080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889" y="381"/>
              <a:ext cx="24383111" cy="207645"/>
            </a:xfrm>
            <a:custGeom>
              <a:avLst/>
              <a:gdLst/>
              <a:ahLst/>
              <a:cxnLst/>
              <a:rect r="r" b="b" t="t" l="l"/>
              <a:pathLst>
                <a:path h="207645" w="24383111">
                  <a:moveTo>
                    <a:pt x="0" y="0"/>
                  </a:moveTo>
                  <a:lnTo>
                    <a:pt x="0" y="207645"/>
                  </a:lnTo>
                  <a:lnTo>
                    <a:pt x="24383111" y="207645"/>
                  </a:lnTo>
                  <a:lnTo>
                    <a:pt x="24383111" y="0"/>
                  </a:lnTo>
                  <a:close/>
                </a:path>
              </a:pathLst>
            </a:custGeom>
            <a:solidFill>
              <a:srgbClr val="722420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3504208" y="8203240"/>
            <a:ext cx="1590332" cy="803286"/>
          </a:xfrm>
          <a:custGeom>
            <a:avLst/>
            <a:gdLst/>
            <a:ahLst/>
            <a:cxnLst/>
            <a:rect r="r" b="b" t="t" l="l"/>
            <a:pathLst>
              <a:path h="803286" w="1590332">
                <a:moveTo>
                  <a:pt x="0" y="0"/>
                </a:moveTo>
                <a:lnTo>
                  <a:pt x="1590332" y="0"/>
                </a:lnTo>
                <a:lnTo>
                  <a:pt x="1590332" y="803286"/>
                </a:lnTo>
                <a:lnTo>
                  <a:pt x="0" y="80328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0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80250" y="-381000"/>
            <a:ext cx="20448476" cy="11268850"/>
          </a:xfrm>
          <a:custGeom>
            <a:avLst/>
            <a:gdLst/>
            <a:ahLst/>
            <a:cxnLst/>
            <a:rect r="r" b="b" t="t" l="l"/>
            <a:pathLst>
              <a:path h="11268850" w="20448476">
                <a:moveTo>
                  <a:pt x="0" y="0"/>
                </a:moveTo>
                <a:lnTo>
                  <a:pt x="20448476" y="0"/>
                </a:lnTo>
                <a:lnTo>
                  <a:pt x="20448476" y="11268850"/>
                </a:lnTo>
                <a:lnTo>
                  <a:pt x="0" y="112688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75657" y="1518498"/>
            <a:ext cx="11189790" cy="8491800"/>
          </a:xfrm>
          <a:custGeom>
            <a:avLst/>
            <a:gdLst/>
            <a:ahLst/>
            <a:cxnLst/>
            <a:rect r="r" b="b" t="t" l="l"/>
            <a:pathLst>
              <a:path h="8491800" w="11189790">
                <a:moveTo>
                  <a:pt x="0" y="0"/>
                </a:moveTo>
                <a:lnTo>
                  <a:pt x="11189790" y="0"/>
                </a:lnTo>
                <a:lnTo>
                  <a:pt x="11189790" y="8491800"/>
                </a:lnTo>
                <a:lnTo>
                  <a:pt x="0" y="8491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8933" t="0" r="-17179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10800000">
            <a:off x="775578" y="1364450"/>
            <a:ext cx="6000079" cy="8491800"/>
            <a:chOff x="0" y="0"/>
            <a:chExt cx="8000105" cy="11322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000123" cy="11322431"/>
            </a:xfrm>
            <a:custGeom>
              <a:avLst/>
              <a:gdLst/>
              <a:ahLst/>
              <a:cxnLst/>
              <a:rect r="r" b="b" t="t" l="l"/>
              <a:pathLst>
                <a:path h="11322431" w="8000123">
                  <a:moveTo>
                    <a:pt x="0" y="0"/>
                  </a:moveTo>
                  <a:lnTo>
                    <a:pt x="8000123" y="0"/>
                  </a:lnTo>
                  <a:lnTo>
                    <a:pt x="8000123" y="9790557"/>
                  </a:lnTo>
                  <a:lnTo>
                    <a:pt x="6908481" y="11322431"/>
                  </a:lnTo>
                  <a:lnTo>
                    <a:pt x="0" y="11322431"/>
                  </a:lnTo>
                  <a:close/>
                </a:path>
              </a:pathLst>
            </a:custGeom>
            <a:solidFill>
              <a:srgbClr val="893128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908481" y="9790685"/>
              <a:ext cx="1091546" cy="1531747"/>
            </a:xfrm>
            <a:custGeom>
              <a:avLst/>
              <a:gdLst/>
              <a:ahLst/>
              <a:cxnLst/>
              <a:rect r="r" b="b" t="t" l="l"/>
              <a:pathLst>
                <a:path h="1531747" w="1091546">
                  <a:moveTo>
                    <a:pt x="0" y="1531746"/>
                  </a:moveTo>
                  <a:lnTo>
                    <a:pt x="218291" y="306323"/>
                  </a:lnTo>
                  <a:lnTo>
                    <a:pt x="1091546" y="0"/>
                  </a:lnTo>
                  <a:close/>
                </a:path>
              </a:pathLst>
            </a:custGeom>
            <a:solidFill>
              <a:srgbClr val="6D272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000123" cy="11322431"/>
            </a:xfrm>
            <a:custGeom>
              <a:avLst/>
              <a:gdLst/>
              <a:ahLst/>
              <a:cxnLst/>
              <a:rect r="r" b="b" t="t" l="l"/>
              <a:pathLst>
                <a:path h="11322431" w="8000123">
                  <a:moveTo>
                    <a:pt x="6908481" y="11322431"/>
                  </a:moveTo>
                  <a:lnTo>
                    <a:pt x="7126772" y="10097008"/>
                  </a:lnTo>
                  <a:lnTo>
                    <a:pt x="8000027" y="9790685"/>
                  </a:lnTo>
                  <a:lnTo>
                    <a:pt x="6908481" y="11322431"/>
                  </a:lnTo>
                  <a:lnTo>
                    <a:pt x="0" y="11322431"/>
                  </a:lnTo>
                  <a:lnTo>
                    <a:pt x="0" y="0"/>
                  </a:lnTo>
                  <a:lnTo>
                    <a:pt x="8000123" y="0"/>
                  </a:lnTo>
                  <a:lnTo>
                    <a:pt x="8000123" y="9790557"/>
                  </a:lnTo>
                </a:path>
              </a:pathLst>
            </a:custGeom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26604" y="9012874"/>
            <a:ext cx="1884036" cy="997424"/>
          </a:xfrm>
          <a:custGeom>
            <a:avLst/>
            <a:gdLst/>
            <a:ahLst/>
            <a:cxnLst/>
            <a:rect r="r" b="b" t="t" l="l"/>
            <a:pathLst>
              <a:path h="997424" w="1884036">
                <a:moveTo>
                  <a:pt x="0" y="0"/>
                </a:moveTo>
                <a:lnTo>
                  <a:pt x="1884036" y="0"/>
                </a:lnTo>
                <a:lnTo>
                  <a:pt x="1884036" y="997424"/>
                </a:lnTo>
                <a:lnTo>
                  <a:pt x="0" y="9974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95397" y="6241476"/>
            <a:ext cx="4008331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0D7"/>
                </a:solidFill>
                <a:latin typeface="Inter"/>
                <a:ea typeface="Inter"/>
                <a:cs typeface="Inter"/>
                <a:sym typeface="Inter"/>
              </a:rPr>
              <a:t>La pregunta parte de una idea. Libris devuelve libros relacionados y muestra sus fuentes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89725" y="1848626"/>
            <a:ext cx="5027161" cy="421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FFF0D7"/>
                </a:solidFill>
                <a:latin typeface="Abril Fatface"/>
                <a:ea typeface="Abril Fatface"/>
                <a:cs typeface="Abril Fatface"/>
                <a:sym typeface="Abril Fatface"/>
              </a:rPr>
              <a:t>Encontrar un libro sin saber su título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2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80250" y="-381000"/>
            <a:ext cx="20448476" cy="11268850"/>
          </a:xfrm>
          <a:custGeom>
            <a:avLst/>
            <a:gdLst/>
            <a:ahLst/>
            <a:cxnLst/>
            <a:rect r="r" b="b" t="t" l="l"/>
            <a:pathLst>
              <a:path h="11268850" w="20448476">
                <a:moveTo>
                  <a:pt x="0" y="0"/>
                </a:moveTo>
                <a:lnTo>
                  <a:pt x="20448476" y="0"/>
                </a:lnTo>
                <a:lnTo>
                  <a:pt x="20448476" y="11268850"/>
                </a:lnTo>
                <a:lnTo>
                  <a:pt x="0" y="112688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1602" y="2420260"/>
            <a:ext cx="1059478" cy="1059946"/>
          </a:xfrm>
          <a:custGeom>
            <a:avLst/>
            <a:gdLst/>
            <a:ahLst/>
            <a:cxnLst/>
            <a:rect r="r" b="b" t="t" l="l"/>
            <a:pathLst>
              <a:path h="1059946" w="1059478">
                <a:moveTo>
                  <a:pt x="0" y="0"/>
                </a:moveTo>
                <a:lnTo>
                  <a:pt x="1059478" y="0"/>
                </a:lnTo>
                <a:lnTo>
                  <a:pt x="1059478" y="1059946"/>
                </a:lnTo>
                <a:lnTo>
                  <a:pt x="0" y="10599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1602" y="4897210"/>
            <a:ext cx="1059478" cy="1059946"/>
          </a:xfrm>
          <a:custGeom>
            <a:avLst/>
            <a:gdLst/>
            <a:ahLst/>
            <a:cxnLst/>
            <a:rect r="r" b="b" t="t" l="l"/>
            <a:pathLst>
              <a:path h="1059946" w="1059478">
                <a:moveTo>
                  <a:pt x="0" y="0"/>
                </a:moveTo>
                <a:lnTo>
                  <a:pt x="1059478" y="0"/>
                </a:lnTo>
                <a:lnTo>
                  <a:pt x="1059478" y="1059946"/>
                </a:lnTo>
                <a:lnTo>
                  <a:pt x="0" y="10599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1602" y="7374160"/>
            <a:ext cx="1059478" cy="1059946"/>
          </a:xfrm>
          <a:custGeom>
            <a:avLst/>
            <a:gdLst/>
            <a:ahLst/>
            <a:cxnLst/>
            <a:rect r="r" b="b" t="t" l="l"/>
            <a:pathLst>
              <a:path h="1059946" w="1059478">
                <a:moveTo>
                  <a:pt x="0" y="0"/>
                </a:moveTo>
                <a:lnTo>
                  <a:pt x="1059478" y="0"/>
                </a:lnTo>
                <a:lnTo>
                  <a:pt x="1059478" y="1059946"/>
                </a:lnTo>
                <a:lnTo>
                  <a:pt x="0" y="10599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618902" y="2420260"/>
            <a:ext cx="1059478" cy="1059946"/>
          </a:xfrm>
          <a:custGeom>
            <a:avLst/>
            <a:gdLst/>
            <a:ahLst/>
            <a:cxnLst/>
            <a:rect r="r" b="b" t="t" l="l"/>
            <a:pathLst>
              <a:path h="1059946" w="1059478">
                <a:moveTo>
                  <a:pt x="0" y="0"/>
                </a:moveTo>
                <a:lnTo>
                  <a:pt x="1059478" y="0"/>
                </a:lnTo>
                <a:lnTo>
                  <a:pt x="1059478" y="1059946"/>
                </a:lnTo>
                <a:lnTo>
                  <a:pt x="0" y="10599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618902" y="4897210"/>
            <a:ext cx="1059478" cy="1059946"/>
          </a:xfrm>
          <a:custGeom>
            <a:avLst/>
            <a:gdLst/>
            <a:ahLst/>
            <a:cxnLst/>
            <a:rect r="r" b="b" t="t" l="l"/>
            <a:pathLst>
              <a:path h="1059946" w="1059478">
                <a:moveTo>
                  <a:pt x="0" y="0"/>
                </a:moveTo>
                <a:lnTo>
                  <a:pt x="1059478" y="0"/>
                </a:lnTo>
                <a:lnTo>
                  <a:pt x="1059478" y="1059946"/>
                </a:lnTo>
                <a:lnTo>
                  <a:pt x="0" y="10599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618902" y="7374160"/>
            <a:ext cx="1059478" cy="1059946"/>
          </a:xfrm>
          <a:custGeom>
            <a:avLst/>
            <a:gdLst/>
            <a:ahLst/>
            <a:cxnLst/>
            <a:rect r="r" b="b" t="t" l="l"/>
            <a:pathLst>
              <a:path h="1059946" w="1059478">
                <a:moveTo>
                  <a:pt x="0" y="0"/>
                </a:moveTo>
                <a:lnTo>
                  <a:pt x="1059478" y="0"/>
                </a:lnTo>
                <a:lnTo>
                  <a:pt x="1059478" y="1059946"/>
                </a:lnTo>
                <a:lnTo>
                  <a:pt x="0" y="10599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12375" y="2592722"/>
            <a:ext cx="985350" cy="70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421B1A"/>
                </a:solidFill>
                <a:latin typeface="Abril Fatface"/>
                <a:ea typeface="Abril Fatface"/>
                <a:cs typeface="Abril Fatface"/>
                <a:sym typeface="Abril Fatface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12375" y="7568372"/>
            <a:ext cx="985350" cy="70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421B1A"/>
                </a:solidFill>
                <a:latin typeface="Abril Fatface"/>
                <a:ea typeface="Abril Fatface"/>
                <a:cs typeface="Abril Fatface"/>
                <a:sym typeface="Abril Fatface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12375" y="5080548"/>
            <a:ext cx="985350" cy="70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421B1A"/>
                </a:solidFill>
                <a:latin typeface="Abril Fatface"/>
                <a:ea typeface="Abril Fatface"/>
                <a:cs typeface="Abril Fatface"/>
                <a:sym typeface="Abril Fatface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55975" y="2592722"/>
            <a:ext cx="985350" cy="70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421B1A"/>
                </a:solidFill>
                <a:latin typeface="Abril Fatface"/>
                <a:ea typeface="Abril Fatface"/>
                <a:cs typeface="Abril Fatface"/>
                <a:sym typeface="Abril Fatface"/>
              </a:rPr>
              <a:t>04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55975" y="7568372"/>
            <a:ext cx="985350" cy="70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421B1A"/>
                </a:solidFill>
                <a:latin typeface="Abril Fatface"/>
                <a:ea typeface="Abril Fatface"/>
                <a:cs typeface="Abril Fatface"/>
                <a:sym typeface="Abril Fatface"/>
              </a:rPr>
              <a:t>06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55975" y="5080548"/>
            <a:ext cx="985350" cy="70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421B1A"/>
                </a:solidFill>
                <a:latin typeface="Abril Fatface"/>
                <a:ea typeface="Abril Fatface"/>
                <a:cs typeface="Abril Fatface"/>
                <a:sym typeface="Abril Fatface"/>
              </a:rPr>
              <a:t>05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31425" y="1100000"/>
            <a:ext cx="1522515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FFF0D7"/>
                </a:solidFill>
                <a:latin typeface="Abril Fatface"/>
                <a:ea typeface="Abril Fatface"/>
                <a:cs typeface="Abril Fatface"/>
                <a:sym typeface="Abril Fatface"/>
              </a:rPr>
              <a:t>Arquitectura local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00875" y="2178625"/>
            <a:ext cx="431235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FFF0D7"/>
                </a:solidFill>
                <a:latin typeface="Abril Fatface"/>
                <a:ea typeface="Abril Fatface"/>
                <a:cs typeface="Abril Fatface"/>
                <a:sym typeface="Abril Fatface"/>
              </a:rPr>
              <a:t>Streamlit + Python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549933" y="4111884"/>
            <a:ext cx="4312350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FF0D7"/>
                </a:solidFill>
                <a:latin typeface="Inter"/>
                <a:ea typeface="Inter"/>
                <a:cs typeface="Inter"/>
                <a:sym typeface="Inter"/>
              </a:rPr>
              <a:t>Pregunta, respuesta y evidencias en el navegador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497725" y="6195281"/>
            <a:ext cx="431235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FFF0D7"/>
                </a:solidFill>
                <a:latin typeface="Abril Fatface"/>
                <a:ea typeface="Abril Fatface"/>
                <a:cs typeface="Abril Fatface"/>
                <a:sym typeface="Abril Fatface"/>
              </a:rPr>
              <a:t>Caddy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97725" y="7204931"/>
            <a:ext cx="431235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FF0D7"/>
                </a:solidFill>
                <a:latin typeface="Inter"/>
                <a:ea typeface="Inter"/>
                <a:cs typeface="Inter"/>
                <a:sym typeface="Inter"/>
              </a:rPr>
              <a:t>Conexión HTTPS entre SQL Server y Ollama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744475" y="2433333"/>
            <a:ext cx="4312350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FFF0D7"/>
                </a:solidFill>
                <a:latin typeface="Abril Fatface"/>
                <a:ea typeface="Abril Fatface"/>
                <a:cs typeface="Abril Fatface"/>
                <a:sym typeface="Abril Fatface"/>
              </a:rPr>
              <a:t>SQL Server 2025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719004" y="4066727"/>
            <a:ext cx="431235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FF0D7"/>
                </a:solidFill>
                <a:latin typeface="Inter"/>
                <a:ea typeface="Inter"/>
                <a:cs typeface="Inter"/>
                <a:sym typeface="Inter"/>
              </a:rPr>
              <a:t>Datos, busquedas y procedimiento RAG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693533" y="6210796"/>
            <a:ext cx="431235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FFF0D7"/>
                </a:solidFill>
                <a:latin typeface="Abril Fatface"/>
                <a:ea typeface="Abril Fatface"/>
                <a:cs typeface="Abril Fatface"/>
                <a:sym typeface="Abril Fatface"/>
              </a:rPr>
              <a:t>Ollama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693533" y="7204931"/>
            <a:ext cx="4312350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FF0D7"/>
                </a:solidFill>
                <a:latin typeface="Inter"/>
                <a:ea typeface="Inter"/>
                <a:cs typeface="Inter"/>
                <a:sym typeface="Inter"/>
              </a:rPr>
              <a:t>BGE-M3 para vectores y Qwen2.5_3b para respuestas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3501182" y="1215714"/>
            <a:ext cx="3832988" cy="10057648"/>
          </a:xfrm>
          <a:custGeom>
            <a:avLst/>
            <a:gdLst/>
            <a:ahLst/>
            <a:cxnLst/>
            <a:rect r="r" b="b" t="t" l="l"/>
            <a:pathLst>
              <a:path h="10057648" w="3832988">
                <a:moveTo>
                  <a:pt x="0" y="0"/>
                </a:moveTo>
                <a:lnTo>
                  <a:pt x="3832988" y="0"/>
                </a:lnTo>
                <a:lnTo>
                  <a:pt x="3832988" y="10057648"/>
                </a:lnTo>
                <a:lnTo>
                  <a:pt x="0" y="1005764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0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80238" y="-381000"/>
            <a:ext cx="20448476" cy="11268850"/>
          </a:xfrm>
          <a:custGeom>
            <a:avLst/>
            <a:gdLst/>
            <a:ahLst/>
            <a:cxnLst/>
            <a:rect r="r" b="b" t="t" l="l"/>
            <a:pathLst>
              <a:path h="11268850" w="20448476">
                <a:moveTo>
                  <a:pt x="0" y="0"/>
                </a:moveTo>
                <a:lnTo>
                  <a:pt x="20448476" y="0"/>
                </a:lnTo>
                <a:lnTo>
                  <a:pt x="20448476" y="11268850"/>
                </a:lnTo>
                <a:lnTo>
                  <a:pt x="0" y="112688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58000" y="1533254"/>
            <a:ext cx="1623226" cy="1623700"/>
          </a:xfrm>
          <a:custGeom>
            <a:avLst/>
            <a:gdLst/>
            <a:ahLst/>
            <a:cxnLst/>
            <a:rect r="r" b="b" t="t" l="l"/>
            <a:pathLst>
              <a:path h="1623700" w="1623226">
                <a:moveTo>
                  <a:pt x="0" y="0"/>
                </a:moveTo>
                <a:lnTo>
                  <a:pt x="1623226" y="0"/>
                </a:lnTo>
                <a:lnTo>
                  <a:pt x="1623226" y="1623700"/>
                </a:lnTo>
                <a:lnTo>
                  <a:pt x="0" y="16237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32388" y="1524078"/>
            <a:ext cx="1623226" cy="1623700"/>
          </a:xfrm>
          <a:custGeom>
            <a:avLst/>
            <a:gdLst/>
            <a:ahLst/>
            <a:cxnLst/>
            <a:rect r="r" b="b" t="t" l="l"/>
            <a:pathLst>
              <a:path h="1623700" w="1623226">
                <a:moveTo>
                  <a:pt x="0" y="0"/>
                </a:moveTo>
                <a:lnTo>
                  <a:pt x="1623226" y="0"/>
                </a:lnTo>
                <a:lnTo>
                  <a:pt x="1623226" y="1623700"/>
                </a:lnTo>
                <a:lnTo>
                  <a:pt x="0" y="16237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506630" y="1533254"/>
            <a:ext cx="1623226" cy="1623700"/>
          </a:xfrm>
          <a:custGeom>
            <a:avLst/>
            <a:gdLst/>
            <a:ahLst/>
            <a:cxnLst/>
            <a:rect r="r" b="b" t="t" l="l"/>
            <a:pathLst>
              <a:path h="1623700" w="1623226">
                <a:moveTo>
                  <a:pt x="0" y="0"/>
                </a:moveTo>
                <a:lnTo>
                  <a:pt x="1623226" y="0"/>
                </a:lnTo>
                <a:lnTo>
                  <a:pt x="1623226" y="1623700"/>
                </a:lnTo>
                <a:lnTo>
                  <a:pt x="0" y="16237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31425" y="1100000"/>
            <a:ext cx="1522515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421B1A"/>
                </a:solidFill>
                <a:latin typeface="Abril Fatface"/>
                <a:ea typeface="Abril Fatface"/>
                <a:cs typeface="Abril Fatface"/>
                <a:sym typeface="Abril Fatface"/>
              </a:rPr>
              <a:t>Base de datos y seguridad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14025" y="3495403"/>
            <a:ext cx="491115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421B1A"/>
                </a:solidFill>
                <a:latin typeface="Abril Fatface"/>
                <a:ea typeface="Abril Fatface"/>
                <a:cs typeface="Abril Fatface"/>
                <a:sym typeface="Abril Fatface"/>
              </a:rPr>
              <a:t>Catálogo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14037" y="4151076"/>
            <a:ext cx="491115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421B1A"/>
                </a:solidFill>
                <a:latin typeface="Inter"/>
                <a:ea typeface="Inter"/>
                <a:cs typeface="Inter"/>
                <a:sym typeface="Inter"/>
              </a:rPr>
              <a:t>Books, Authors y Genres con tablas intermediarias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88347" y="3486227"/>
            <a:ext cx="491115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421B1A"/>
                </a:solidFill>
                <a:latin typeface="Abril Fatface"/>
                <a:ea typeface="Abril Fatface"/>
                <a:cs typeface="Abril Fatface"/>
                <a:sym typeface="Abril Fatface"/>
              </a:rPr>
              <a:t>Actividad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88353" y="4141902"/>
            <a:ext cx="491115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421B1A"/>
                </a:solidFill>
                <a:latin typeface="Inter"/>
                <a:ea typeface="Inter"/>
                <a:cs typeface="Inter"/>
                <a:sym typeface="Inter"/>
              </a:rPr>
              <a:t>Members, Loans, Ratings y SearchHistory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95672" y="3593412"/>
            <a:ext cx="4911150" cy="1485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899">
                <a:solidFill>
                  <a:srgbClr val="421B1A"/>
                </a:solidFill>
                <a:latin typeface="Abril Fatface"/>
                <a:ea typeface="Abril Fatface"/>
                <a:cs typeface="Abril Fatface"/>
                <a:sym typeface="Abril Fatface"/>
              </a:rPr>
              <a:t>515 libros y 54 socios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26402" y="890592"/>
            <a:ext cx="1429872" cy="1942400"/>
          </a:xfrm>
          <a:custGeom>
            <a:avLst/>
            <a:gdLst/>
            <a:ahLst/>
            <a:cxnLst/>
            <a:rect r="r" b="b" t="t" l="l"/>
            <a:pathLst>
              <a:path h="1942400" w="1429872">
                <a:moveTo>
                  <a:pt x="0" y="0"/>
                </a:moveTo>
                <a:lnTo>
                  <a:pt x="1429872" y="0"/>
                </a:lnTo>
                <a:lnTo>
                  <a:pt x="1429872" y="1942400"/>
                </a:lnTo>
                <a:lnTo>
                  <a:pt x="0" y="1942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785616" y="2719580"/>
            <a:ext cx="1590621" cy="1191376"/>
          </a:xfrm>
          <a:custGeom>
            <a:avLst/>
            <a:gdLst/>
            <a:ahLst/>
            <a:cxnLst/>
            <a:rect r="r" b="b" t="t" l="l"/>
            <a:pathLst>
              <a:path h="1191376" w="1590621">
                <a:moveTo>
                  <a:pt x="0" y="0"/>
                </a:moveTo>
                <a:lnTo>
                  <a:pt x="1590621" y="0"/>
                </a:lnTo>
                <a:lnTo>
                  <a:pt x="1590621" y="1191377"/>
                </a:lnTo>
                <a:lnTo>
                  <a:pt x="0" y="119137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91710" y="8612249"/>
            <a:ext cx="1429900" cy="757000"/>
          </a:xfrm>
          <a:custGeom>
            <a:avLst/>
            <a:gdLst/>
            <a:ahLst/>
            <a:cxnLst/>
            <a:rect r="r" b="b" t="t" l="l"/>
            <a:pathLst>
              <a:path h="757000" w="1429900">
                <a:moveTo>
                  <a:pt x="0" y="0"/>
                </a:moveTo>
                <a:lnTo>
                  <a:pt x="1429900" y="0"/>
                </a:lnTo>
                <a:lnTo>
                  <a:pt x="1429900" y="757000"/>
                </a:lnTo>
                <a:lnTo>
                  <a:pt x="0" y="7570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194484" y="5526072"/>
            <a:ext cx="13418381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421B1A"/>
                </a:solidFill>
                <a:latin typeface="Inter"/>
                <a:ea typeface="Inter"/>
                <a:cs typeface="Inter"/>
                <a:sym typeface="Inter"/>
              </a:rPr>
              <a:t>Roles y permisos, préstamos de cada socio y email enmascarado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90013" y="6307984"/>
            <a:ext cx="15048509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421B1A"/>
                </a:solidFill>
                <a:latin typeface="Abril Fatface"/>
                <a:ea typeface="Abril Fatface"/>
                <a:cs typeface="Abril Fatface"/>
                <a:sym typeface="Abril Fatface"/>
              </a:rPr>
              <a:t>Buscar por palabras y por significado</a:t>
            </a:r>
          </a:p>
          <a:p>
            <a:pPr algn="ctr">
              <a:lnSpc>
                <a:spcPts val="479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2202123" y="7259622"/>
            <a:ext cx="15506983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421B1A"/>
                </a:solidFill>
                <a:latin typeface="Inter"/>
                <a:ea typeface="Inter"/>
                <a:cs typeface="Inter"/>
                <a:sym typeface="Inter"/>
              </a:rPr>
              <a:t>Full-Text: Coincidencias de palabras en título y sinopsis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421B1A"/>
                </a:solidFill>
                <a:latin typeface="Inter"/>
                <a:ea typeface="Inter"/>
                <a:cs typeface="Inter"/>
                <a:sym typeface="Inter"/>
              </a:rPr>
              <a:t>Vectorial: Semejanza de significado con distancia coseno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421B1A"/>
                </a:solidFill>
                <a:latin typeface="Inter"/>
                <a:ea typeface="Inter"/>
                <a:cs typeface="Inter"/>
                <a:sym typeface="Inter"/>
              </a:rPr>
              <a:t>Híbrida: Combina las posiciones de los rankings con RRF</a:t>
            </a:r>
          </a:p>
          <a:p>
            <a:pPr algn="ctr">
              <a:lnSpc>
                <a:spcPts val="3359"/>
              </a:lnSpc>
            </a:pPr>
          </a:p>
          <a:p>
            <a:pPr algn="ctr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0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14292" y="-811189"/>
            <a:ext cx="20448476" cy="11268850"/>
          </a:xfrm>
          <a:custGeom>
            <a:avLst/>
            <a:gdLst/>
            <a:ahLst/>
            <a:cxnLst/>
            <a:rect r="r" b="b" t="t" l="l"/>
            <a:pathLst>
              <a:path h="11268850" w="20448476">
                <a:moveTo>
                  <a:pt x="0" y="0"/>
                </a:moveTo>
                <a:lnTo>
                  <a:pt x="20448476" y="0"/>
                </a:lnTo>
                <a:lnTo>
                  <a:pt x="20448476" y="11268850"/>
                </a:lnTo>
                <a:lnTo>
                  <a:pt x="0" y="112688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56896" y="717939"/>
            <a:ext cx="15225150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421B1A"/>
                </a:solidFill>
                <a:latin typeface="Abril Fatface"/>
                <a:ea typeface="Abril Fatface"/>
                <a:cs typeface="Abril Fatface"/>
                <a:sym typeface="Abril Fatface"/>
              </a:rPr>
              <a:t>Cómo responde el RAG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92404" y="5796447"/>
            <a:ext cx="367575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421B1A"/>
                </a:solidFill>
                <a:latin typeface="Abril Fatface"/>
                <a:ea typeface="Abril Fatface"/>
                <a:cs typeface="Abril Fatface"/>
                <a:sym typeface="Abril Fatface"/>
              </a:rPr>
              <a:t>Pregunta en vector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2404" y="6367060"/>
            <a:ext cx="367575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399">
                <a:solidFill>
                  <a:srgbClr val="421B1A"/>
                </a:solidFill>
                <a:latin typeface="Inter"/>
                <a:ea typeface="Inter"/>
                <a:cs typeface="Inter"/>
                <a:sym typeface="Inter"/>
              </a:rPr>
              <a:t>BGE-</a:t>
            </a:r>
            <a:r>
              <a:rPr lang="en-US" sz="2399">
                <a:solidFill>
                  <a:srgbClr val="421B1A"/>
                </a:solidFill>
                <a:latin typeface="Inter"/>
                <a:ea typeface="Inter"/>
                <a:cs typeface="Inter"/>
                <a:sym typeface="Inter"/>
              </a:rPr>
              <a:t>M3 representa lo que busca el usuario.</a:t>
            </a:r>
          </a:p>
          <a:p>
            <a:pPr algn="ctr">
              <a:lnSpc>
                <a:spcPts val="287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043235" y="5819954"/>
            <a:ext cx="3675750" cy="206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>
                <a:solidFill>
                  <a:srgbClr val="421B1A"/>
                </a:solidFill>
                <a:latin typeface="Abril Fatface"/>
                <a:ea typeface="Abril Fatface"/>
                <a:cs typeface="Abril Fatface"/>
                <a:sym typeface="Abril Fatface"/>
              </a:rPr>
              <a:t>Qw</a:t>
            </a:r>
            <a:r>
              <a:rPr lang="en-US" sz="3399">
                <a:solidFill>
                  <a:srgbClr val="421B1A"/>
                </a:solidFill>
                <a:latin typeface="Abril Fatface"/>
                <a:ea typeface="Abril Fatface"/>
                <a:cs typeface="Abril Fatface"/>
                <a:sym typeface="Abril Fatface"/>
              </a:rPr>
              <a:t>en2.5:3b redacta la respuesta</a:t>
            </a:r>
          </a:p>
          <a:p>
            <a:pPr algn="ctr">
              <a:lnSpc>
                <a:spcPts val="407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3119646" y="7309478"/>
            <a:ext cx="3675750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421B1A"/>
                </a:solidFill>
                <a:latin typeface="Inter"/>
                <a:ea typeface="Inter"/>
                <a:cs typeface="Inter"/>
                <a:sym typeface="Inter"/>
              </a:rPr>
              <a:t>Las </a:t>
            </a:r>
            <a:r>
              <a:rPr lang="en-US" sz="2400">
                <a:solidFill>
                  <a:srgbClr val="421B1A"/>
                </a:solidFill>
                <a:latin typeface="Inter"/>
                <a:ea typeface="Inter"/>
                <a:cs typeface="Inter"/>
                <a:sym typeface="Inter"/>
              </a:rPr>
              <a:t>citas permiten revisar los libros utilizados.</a:t>
            </a:r>
          </a:p>
          <a:p>
            <a:pPr algn="ctr">
              <a:lnSpc>
                <a:spcPts val="287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468250" y="5740265"/>
            <a:ext cx="3675750" cy="208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3499">
                <a:solidFill>
                  <a:srgbClr val="421B1A"/>
                </a:solidFill>
                <a:latin typeface="Abril Fatface"/>
                <a:ea typeface="Abril Fatface"/>
                <a:cs typeface="Abril Fatface"/>
                <a:sym typeface="Abril Fatface"/>
              </a:rPr>
              <a:t>SQL Server recupera </a:t>
            </a:r>
            <a:r>
              <a:rPr lang="en-US" sz="3499">
                <a:solidFill>
                  <a:srgbClr val="421B1A"/>
                </a:solidFill>
                <a:latin typeface="Abril Fatface"/>
                <a:ea typeface="Abril Fatface"/>
                <a:cs typeface="Abril Fatface"/>
                <a:sym typeface="Abril Fatface"/>
              </a:rPr>
              <a:t>de 1 a 5 libros</a:t>
            </a:r>
          </a:p>
          <a:p>
            <a:pPr algn="ctr">
              <a:lnSpc>
                <a:spcPts val="41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300207" y="7411361"/>
            <a:ext cx="3675750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421B1A"/>
                </a:solidFill>
                <a:latin typeface="Inter"/>
                <a:ea typeface="Inter"/>
                <a:cs typeface="Inter"/>
                <a:sym typeface="Inter"/>
              </a:rPr>
              <a:t>Sel</a:t>
            </a:r>
            <a:r>
              <a:rPr lang="en-US" sz="2400">
                <a:solidFill>
                  <a:srgbClr val="421B1A"/>
                </a:solidFill>
                <a:latin typeface="Inter"/>
                <a:ea typeface="Inter"/>
                <a:cs typeface="Inter"/>
                <a:sym typeface="Inter"/>
              </a:rPr>
              <a:t>ecciona los más próximos por distancia coseno.</a:t>
            </a:r>
          </a:p>
          <a:p>
            <a:pPr algn="ctr">
              <a:lnSpc>
                <a:spcPts val="287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209940" y="5863721"/>
            <a:ext cx="367575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>
                <a:solidFill>
                  <a:srgbClr val="421B1A"/>
                </a:solidFill>
                <a:latin typeface="Abril Fatface"/>
                <a:ea typeface="Abril Fatface"/>
                <a:cs typeface="Abril Fatface"/>
                <a:sym typeface="Abril Fatface"/>
              </a:rPr>
              <a:t>Fichas forman contexto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84467" y="6901946"/>
            <a:ext cx="367575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421B1A"/>
                </a:solidFill>
                <a:latin typeface="Inter"/>
                <a:ea typeface="Inter"/>
                <a:cs typeface="Inter"/>
                <a:sym typeface="Inter"/>
              </a:rPr>
              <a:t>Inc</a:t>
            </a:r>
            <a:r>
              <a:rPr lang="en-US" sz="2400">
                <a:solidFill>
                  <a:srgbClr val="421B1A"/>
                </a:solidFill>
                <a:latin typeface="Inter"/>
                <a:ea typeface="Inter"/>
                <a:cs typeface="Inter"/>
                <a:sym typeface="Inter"/>
              </a:rPr>
              <a:t>luyen título, autor, géneros y sinopsis.</a:t>
            </a:r>
          </a:p>
          <a:p>
            <a:pPr algn="ctr">
              <a:lnSpc>
                <a:spcPts val="287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492404" y="2015170"/>
            <a:ext cx="367575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421B1A"/>
                </a:solidFill>
                <a:latin typeface="Abril Fatface"/>
                <a:ea typeface="Abril Fatface"/>
                <a:cs typeface="Abril Fatface"/>
                <a:sym typeface="Abril Fatface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68716" y="2015170"/>
            <a:ext cx="367575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421B1A"/>
                </a:solidFill>
                <a:latin typeface="Abril Fatface"/>
                <a:ea typeface="Abril Fatface"/>
                <a:cs typeface="Abril Fatface"/>
                <a:sym typeface="Abril Fatface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51174" y="2015170"/>
            <a:ext cx="367575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421B1A"/>
                </a:solidFill>
                <a:latin typeface="Abril Fatface"/>
                <a:ea typeface="Abril Fatface"/>
                <a:cs typeface="Abril Fatface"/>
                <a:sym typeface="Abril Fatface"/>
              </a:rPr>
              <a:t>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09946" y="2015170"/>
            <a:ext cx="367575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>
                <a:solidFill>
                  <a:srgbClr val="421B1A"/>
                </a:solidFill>
                <a:latin typeface="Abril Fatface"/>
                <a:ea typeface="Abril Fatface"/>
                <a:cs typeface="Abril Fatface"/>
                <a:sym typeface="Abril Fatface"/>
              </a:rPr>
              <a:t>03</a:t>
            </a:r>
          </a:p>
        </p:txBody>
      </p:sp>
      <p:sp>
        <p:nvSpPr>
          <p:cNvPr name="AutoShape 16" id="16"/>
          <p:cNvSpPr/>
          <p:nvPr/>
        </p:nvSpPr>
        <p:spPr>
          <a:xfrm>
            <a:off x="3330279" y="2605720"/>
            <a:ext cx="19050" cy="2975813"/>
          </a:xfrm>
          <a:prstGeom prst="line">
            <a:avLst/>
          </a:prstGeom>
          <a:ln cap="rnd" w="19050">
            <a:solidFill>
              <a:srgbClr val="C1363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7189049" y="2605720"/>
            <a:ext cx="19050" cy="2975813"/>
          </a:xfrm>
          <a:prstGeom prst="line">
            <a:avLst/>
          </a:prstGeom>
          <a:ln cap="rnd" w="19050">
            <a:solidFill>
              <a:srgbClr val="82742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H="true">
            <a:off x="11047815" y="2605720"/>
            <a:ext cx="6" cy="3267525"/>
          </a:xfrm>
          <a:prstGeom prst="line">
            <a:avLst/>
          </a:prstGeom>
          <a:ln cap="rnd" w="19050">
            <a:solidFill>
              <a:srgbClr val="904D9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4906591" y="2605720"/>
            <a:ext cx="0" cy="3154422"/>
          </a:xfrm>
          <a:prstGeom prst="line">
            <a:avLst/>
          </a:prstGeom>
          <a:ln cap="rnd" w="19050">
            <a:solidFill>
              <a:srgbClr val="D8844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6269001" y="3428540"/>
            <a:ext cx="1862075" cy="1394697"/>
          </a:xfrm>
          <a:custGeom>
            <a:avLst/>
            <a:gdLst/>
            <a:ahLst/>
            <a:cxnLst/>
            <a:rect r="r" b="b" t="t" l="l"/>
            <a:pathLst>
              <a:path h="1394697" w="1862075">
                <a:moveTo>
                  <a:pt x="0" y="0"/>
                </a:moveTo>
                <a:lnTo>
                  <a:pt x="1862075" y="0"/>
                </a:lnTo>
                <a:lnTo>
                  <a:pt x="1862075" y="1394697"/>
                </a:lnTo>
                <a:lnTo>
                  <a:pt x="0" y="13946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399252" y="3428540"/>
            <a:ext cx="1862075" cy="1394697"/>
          </a:xfrm>
          <a:custGeom>
            <a:avLst/>
            <a:gdLst/>
            <a:ahLst/>
            <a:cxnLst/>
            <a:rect r="r" b="b" t="t" l="l"/>
            <a:pathLst>
              <a:path h="1394697" w="1862075">
                <a:moveTo>
                  <a:pt x="0" y="0"/>
                </a:moveTo>
                <a:lnTo>
                  <a:pt x="1862075" y="0"/>
                </a:lnTo>
                <a:lnTo>
                  <a:pt x="1862075" y="1394697"/>
                </a:lnTo>
                <a:lnTo>
                  <a:pt x="0" y="13946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138752" y="3428539"/>
            <a:ext cx="1862075" cy="1394697"/>
          </a:xfrm>
          <a:custGeom>
            <a:avLst/>
            <a:gdLst/>
            <a:ahLst/>
            <a:cxnLst/>
            <a:rect r="r" b="b" t="t" l="l"/>
            <a:pathLst>
              <a:path h="1394697" w="1862075">
                <a:moveTo>
                  <a:pt x="0" y="0"/>
                </a:moveTo>
                <a:lnTo>
                  <a:pt x="1862075" y="0"/>
                </a:lnTo>
                <a:lnTo>
                  <a:pt x="1862075" y="1394697"/>
                </a:lnTo>
                <a:lnTo>
                  <a:pt x="0" y="13946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975551" y="3428539"/>
            <a:ext cx="1862075" cy="1394697"/>
          </a:xfrm>
          <a:custGeom>
            <a:avLst/>
            <a:gdLst/>
            <a:ahLst/>
            <a:cxnLst/>
            <a:rect r="r" b="b" t="t" l="l"/>
            <a:pathLst>
              <a:path h="1394697" w="1862075">
                <a:moveTo>
                  <a:pt x="0" y="0"/>
                </a:moveTo>
                <a:lnTo>
                  <a:pt x="1862075" y="0"/>
                </a:lnTo>
                <a:lnTo>
                  <a:pt x="1862075" y="1394697"/>
                </a:lnTo>
                <a:lnTo>
                  <a:pt x="0" y="139469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-791938" y="5944172"/>
            <a:ext cx="2523908" cy="3764136"/>
          </a:xfrm>
          <a:custGeom>
            <a:avLst/>
            <a:gdLst/>
            <a:ahLst/>
            <a:cxnLst/>
            <a:rect r="r" b="b" t="t" l="l"/>
            <a:pathLst>
              <a:path h="3764136" w="2523908">
                <a:moveTo>
                  <a:pt x="0" y="0"/>
                </a:moveTo>
                <a:lnTo>
                  <a:pt x="2523908" y="0"/>
                </a:lnTo>
                <a:lnTo>
                  <a:pt x="2523908" y="3764136"/>
                </a:lnTo>
                <a:lnTo>
                  <a:pt x="0" y="376413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0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80250" y="-381000"/>
            <a:ext cx="20448476" cy="11268850"/>
          </a:xfrm>
          <a:custGeom>
            <a:avLst/>
            <a:gdLst/>
            <a:ahLst/>
            <a:cxnLst/>
            <a:rect r="r" b="b" t="t" l="l"/>
            <a:pathLst>
              <a:path h="11268850" w="20448476">
                <a:moveTo>
                  <a:pt x="0" y="0"/>
                </a:moveTo>
                <a:lnTo>
                  <a:pt x="20448476" y="0"/>
                </a:lnTo>
                <a:lnTo>
                  <a:pt x="20448476" y="11268850"/>
                </a:lnTo>
                <a:lnTo>
                  <a:pt x="0" y="112688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78521" y="3481100"/>
            <a:ext cx="10446358" cy="5736000"/>
          </a:xfrm>
          <a:custGeom>
            <a:avLst/>
            <a:gdLst/>
            <a:ahLst/>
            <a:cxnLst/>
            <a:rect r="r" b="b" t="t" l="l"/>
            <a:pathLst>
              <a:path h="5736000" w="10446358">
                <a:moveTo>
                  <a:pt x="0" y="0"/>
                </a:moveTo>
                <a:lnTo>
                  <a:pt x="10446358" y="0"/>
                </a:lnTo>
                <a:lnTo>
                  <a:pt x="10446358" y="5736000"/>
                </a:lnTo>
                <a:lnTo>
                  <a:pt x="0" y="5736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20854" y="1896840"/>
            <a:ext cx="3878134" cy="1584254"/>
          </a:xfrm>
          <a:custGeom>
            <a:avLst/>
            <a:gdLst/>
            <a:ahLst/>
            <a:cxnLst/>
            <a:rect r="r" b="b" t="t" l="l"/>
            <a:pathLst>
              <a:path h="1584254" w="3878134">
                <a:moveTo>
                  <a:pt x="0" y="0"/>
                </a:moveTo>
                <a:lnTo>
                  <a:pt x="3878134" y="0"/>
                </a:lnTo>
                <a:lnTo>
                  <a:pt x="3878134" y="1584254"/>
                </a:lnTo>
                <a:lnTo>
                  <a:pt x="0" y="15842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23547" y="6377250"/>
            <a:ext cx="7039350" cy="292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421B1A"/>
                </a:solidFill>
                <a:latin typeface="Inter"/>
                <a:ea typeface="Inter"/>
                <a:cs typeface="Inter"/>
                <a:sym typeface="Inter"/>
              </a:rPr>
              <a:t>Títu</a:t>
            </a:r>
            <a:r>
              <a:rPr lang="en-US" sz="3200">
                <a:solidFill>
                  <a:srgbClr val="421B1A"/>
                </a:solidFill>
                <a:latin typeface="Inter"/>
                <a:ea typeface="Inter"/>
                <a:cs typeface="Inter"/>
                <a:sym typeface="Inter"/>
              </a:rPr>
              <a:t>lo y autor del catálogo</a:t>
            </a:r>
          </a:p>
          <a:p>
            <a:pPr algn="l">
              <a:lnSpc>
                <a:spcPts val="3840"/>
              </a:lnSpc>
            </a:pP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421B1A"/>
                </a:solidFill>
                <a:latin typeface="Inter"/>
                <a:ea typeface="Inter"/>
                <a:cs typeface="Inter"/>
                <a:sym typeface="Inter"/>
              </a:rPr>
              <a:t>Fuentes visibles para comprobar la respuesta</a:t>
            </a:r>
          </a:p>
          <a:p>
            <a:pPr algn="l">
              <a:lnSpc>
                <a:spcPts val="3840"/>
              </a:lnSpc>
            </a:pPr>
          </a:p>
          <a:p>
            <a:pPr algn="l">
              <a:lnSpc>
                <a:spcPts val="384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517875" y="2879750"/>
            <a:ext cx="7039350" cy="332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421B1A"/>
                </a:solidFill>
                <a:latin typeface="Abril Fatface"/>
                <a:ea typeface="Abril Fatface"/>
                <a:cs typeface="Abril Fatface"/>
                <a:sym typeface="Abril Fatface"/>
              </a:rPr>
              <a:t>Un</a:t>
            </a:r>
            <a:r>
              <a:rPr lang="en-US" sz="6999">
                <a:solidFill>
                  <a:srgbClr val="421B1A"/>
                </a:solidFill>
                <a:latin typeface="Abril Fatface"/>
                <a:ea typeface="Abril Fatface"/>
                <a:cs typeface="Abril Fatface"/>
                <a:sym typeface="Abril Fatface"/>
              </a:rPr>
              <a:t>a recomendación con evidencias</a:t>
            </a:r>
          </a:p>
          <a:p>
            <a:pPr algn="l">
              <a:lnSpc>
                <a:spcPts val="1320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607459" y="8320866"/>
            <a:ext cx="3385372" cy="1584264"/>
          </a:xfrm>
          <a:custGeom>
            <a:avLst/>
            <a:gdLst/>
            <a:ahLst/>
            <a:cxnLst/>
            <a:rect r="r" b="b" t="t" l="l"/>
            <a:pathLst>
              <a:path h="1584264" w="3385372">
                <a:moveTo>
                  <a:pt x="0" y="0"/>
                </a:moveTo>
                <a:lnTo>
                  <a:pt x="3385372" y="0"/>
                </a:lnTo>
                <a:lnTo>
                  <a:pt x="3385372" y="1584264"/>
                </a:lnTo>
                <a:lnTo>
                  <a:pt x="0" y="15842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70240" y="890558"/>
            <a:ext cx="1429872" cy="1942400"/>
          </a:xfrm>
          <a:custGeom>
            <a:avLst/>
            <a:gdLst/>
            <a:ahLst/>
            <a:cxnLst/>
            <a:rect r="r" b="b" t="t" l="l"/>
            <a:pathLst>
              <a:path h="1942400" w="1429872">
                <a:moveTo>
                  <a:pt x="0" y="0"/>
                </a:moveTo>
                <a:lnTo>
                  <a:pt x="1429872" y="0"/>
                </a:lnTo>
                <a:lnTo>
                  <a:pt x="1429872" y="1942400"/>
                </a:lnTo>
                <a:lnTo>
                  <a:pt x="0" y="1942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0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01955" y="-490925"/>
            <a:ext cx="20448476" cy="11268850"/>
          </a:xfrm>
          <a:custGeom>
            <a:avLst/>
            <a:gdLst/>
            <a:ahLst/>
            <a:cxnLst/>
            <a:rect r="r" b="b" t="t" l="l"/>
            <a:pathLst>
              <a:path h="11268850" w="20448476">
                <a:moveTo>
                  <a:pt x="0" y="0"/>
                </a:moveTo>
                <a:lnTo>
                  <a:pt x="20448476" y="0"/>
                </a:lnTo>
                <a:lnTo>
                  <a:pt x="20448476" y="11268850"/>
                </a:lnTo>
                <a:lnTo>
                  <a:pt x="0" y="112688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80136" y="2146000"/>
            <a:ext cx="3231076" cy="7476094"/>
          </a:xfrm>
          <a:custGeom>
            <a:avLst/>
            <a:gdLst/>
            <a:ahLst/>
            <a:cxnLst/>
            <a:rect r="r" b="b" t="t" l="l"/>
            <a:pathLst>
              <a:path h="7476094" w="3231076">
                <a:moveTo>
                  <a:pt x="0" y="0"/>
                </a:moveTo>
                <a:lnTo>
                  <a:pt x="3231076" y="0"/>
                </a:lnTo>
                <a:lnTo>
                  <a:pt x="3231076" y="7476094"/>
                </a:lnTo>
                <a:lnTo>
                  <a:pt x="0" y="74760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06512" y="3576242"/>
            <a:ext cx="1263290" cy="1884062"/>
          </a:xfrm>
          <a:custGeom>
            <a:avLst/>
            <a:gdLst/>
            <a:ahLst/>
            <a:cxnLst/>
            <a:rect r="r" b="b" t="t" l="l"/>
            <a:pathLst>
              <a:path h="1884062" w="1263290">
                <a:moveTo>
                  <a:pt x="0" y="0"/>
                </a:moveTo>
                <a:lnTo>
                  <a:pt x="1263290" y="0"/>
                </a:lnTo>
                <a:lnTo>
                  <a:pt x="1263290" y="1884062"/>
                </a:lnTo>
                <a:lnTo>
                  <a:pt x="0" y="18840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81458" y="3480623"/>
            <a:ext cx="7321311" cy="4001648"/>
          </a:xfrm>
          <a:custGeom>
            <a:avLst/>
            <a:gdLst/>
            <a:ahLst/>
            <a:cxnLst/>
            <a:rect r="r" b="b" t="t" l="l"/>
            <a:pathLst>
              <a:path h="4001648" w="7321311">
                <a:moveTo>
                  <a:pt x="0" y="0"/>
                </a:moveTo>
                <a:lnTo>
                  <a:pt x="7321311" y="0"/>
                </a:lnTo>
                <a:lnTo>
                  <a:pt x="7321311" y="4001648"/>
                </a:lnTo>
                <a:lnTo>
                  <a:pt x="0" y="40016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31425" y="1170425"/>
            <a:ext cx="15225150" cy="773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421B1A"/>
                </a:solidFill>
                <a:latin typeface="Abril Fatface"/>
                <a:ea typeface="Abril Fatface"/>
                <a:cs typeface="Abril Fatface"/>
                <a:sym typeface="Abril Fatface"/>
              </a:rPr>
              <a:t>Some library percentages 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48525" y="4227760"/>
            <a:ext cx="460155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904D9E"/>
                </a:solidFill>
                <a:latin typeface="Abril Fatface"/>
                <a:ea typeface="Abril Fatface"/>
                <a:cs typeface="Abril Fatface"/>
                <a:sym typeface="Abril Fatface"/>
              </a:rPr>
              <a:t>90%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48525" y="5826335"/>
            <a:ext cx="4601550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421B1A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-US" sz="2799">
                <a:solidFill>
                  <a:srgbClr val="421B1A"/>
                </a:solidFill>
                <a:latin typeface="Inter"/>
                <a:ea typeface="Inter"/>
                <a:cs typeface="Inter"/>
                <a:sym typeface="Inter"/>
              </a:rPr>
              <a:t>edianas de 5 parejas. Equivalencia comprobada para un socio: 485 resultados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448525" y="3112550"/>
            <a:ext cx="4601550" cy="119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C13633"/>
                </a:solidFill>
                <a:latin typeface="Abril Fatface"/>
                <a:ea typeface="Abril Fatface"/>
                <a:cs typeface="Abril Fatface"/>
                <a:sym typeface="Abril Fatface"/>
              </a:rPr>
              <a:t>46,3</a:t>
            </a:r>
            <a:r>
              <a:rPr lang="en-US" sz="3999">
                <a:solidFill>
                  <a:srgbClr val="C13633"/>
                </a:solidFill>
                <a:latin typeface="Abril Fatface"/>
                <a:ea typeface="Abril Fatface"/>
                <a:cs typeface="Abril Fatface"/>
                <a:sym typeface="Abril Fatface"/>
              </a:rPr>
              <a:t> %</a:t>
            </a:r>
          </a:p>
          <a:p>
            <a:pPr algn="l">
              <a:lnSpc>
                <a:spcPts val="47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448525" y="3670548"/>
            <a:ext cx="460155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421B1A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-US" sz="2799">
                <a:solidFill>
                  <a:srgbClr val="421B1A"/>
                </a:solidFill>
                <a:latin typeface="Inter"/>
                <a:ea typeface="Inter"/>
                <a:cs typeface="Inter"/>
                <a:sym typeface="Inter"/>
              </a:rPr>
              <a:t>enos tiempo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524513" y="4765366"/>
            <a:ext cx="460155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421B1A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r>
              <a:rPr lang="en-US" sz="2799">
                <a:solidFill>
                  <a:srgbClr val="421B1A"/>
                </a:solidFill>
                <a:latin typeface="Inter"/>
                <a:ea typeface="Inter"/>
                <a:cs typeface="Inter"/>
                <a:sym typeface="Inter"/>
              </a:rPr>
              <a:t>enos CPU</a:t>
            </a:r>
          </a:p>
          <a:p>
            <a:pPr algn="l">
              <a:lnSpc>
                <a:spcPts val="335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21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80250" y="-381000"/>
            <a:ext cx="20448476" cy="11268850"/>
          </a:xfrm>
          <a:custGeom>
            <a:avLst/>
            <a:gdLst/>
            <a:ahLst/>
            <a:cxnLst/>
            <a:rect r="r" b="b" t="t" l="l"/>
            <a:pathLst>
              <a:path h="11268850" w="20448476">
                <a:moveTo>
                  <a:pt x="0" y="0"/>
                </a:moveTo>
                <a:lnTo>
                  <a:pt x="20448476" y="0"/>
                </a:lnTo>
                <a:lnTo>
                  <a:pt x="20448476" y="11268850"/>
                </a:lnTo>
                <a:lnTo>
                  <a:pt x="0" y="112688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60695" y="3202218"/>
            <a:ext cx="7253550" cy="333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FFF0D7"/>
                </a:solidFill>
                <a:latin typeface="Abril Fatface"/>
                <a:ea typeface="Abril Fatface"/>
                <a:cs typeface="Abril Fatface"/>
                <a:sym typeface="Abril Fatface"/>
              </a:rPr>
              <a:t>Las pru</a:t>
            </a:r>
            <a:r>
              <a:rPr lang="en-US" sz="6000">
                <a:solidFill>
                  <a:srgbClr val="FFF0D7"/>
                </a:solidFill>
                <a:latin typeface="Abril Fatface"/>
                <a:ea typeface="Abril Fatface"/>
                <a:cs typeface="Abril Fatface"/>
                <a:sym typeface="Abril Fatface"/>
              </a:rPr>
              <a:t>ebas también mostraron límites</a:t>
            </a:r>
          </a:p>
          <a:p>
            <a:pPr algn="ctr">
              <a:lnSpc>
                <a:spcPts val="468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126315"/>
            <a:ext cx="7253550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799">
                <a:solidFill>
                  <a:srgbClr val="FFF0D7"/>
                </a:solidFill>
                <a:latin typeface="Inter Bold"/>
                <a:ea typeface="Inter Bold"/>
                <a:cs typeface="Inter Bold"/>
                <a:sym typeface="Inter Bold"/>
              </a:rPr>
              <a:t>Q</a:t>
            </a:r>
            <a:r>
              <a:rPr lang="en-US" b="true" sz="2799">
                <a:solidFill>
                  <a:srgbClr val="FFF0D7"/>
                </a:solidFill>
                <a:latin typeface="Inter Bold"/>
                <a:ea typeface="Inter Bold"/>
                <a:cs typeface="Inter Bold"/>
                <a:sym typeface="Inter Bold"/>
              </a:rPr>
              <a:t>ué funcionó</a:t>
            </a:r>
          </a:p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FFF0D7"/>
                </a:solidFill>
                <a:latin typeface="Inter"/>
                <a:ea typeface="Inter"/>
                <a:cs typeface="Inter"/>
                <a:sym typeface="Inter"/>
              </a:rPr>
              <a:t>Recomendaciones con fuentes.</a:t>
            </a:r>
          </a:p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FFF0D7"/>
                </a:solidFill>
                <a:latin typeface="Inter"/>
                <a:ea typeface="Inter"/>
                <a:cs typeface="Inter"/>
                <a:sym typeface="Inter"/>
              </a:rPr>
              <a:t>Abstención ante información ajena.</a:t>
            </a:r>
          </a:p>
          <a:p>
            <a:pPr algn="ctr">
              <a:lnSpc>
                <a:spcPts val="335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542740" y="3125805"/>
            <a:ext cx="8909644" cy="4677563"/>
          </a:xfrm>
          <a:custGeom>
            <a:avLst/>
            <a:gdLst/>
            <a:ahLst/>
            <a:cxnLst/>
            <a:rect r="r" b="b" t="t" l="l"/>
            <a:pathLst>
              <a:path h="4677563" w="8909644">
                <a:moveTo>
                  <a:pt x="0" y="0"/>
                </a:moveTo>
                <a:lnTo>
                  <a:pt x="8909644" y="0"/>
                </a:lnTo>
                <a:lnTo>
                  <a:pt x="8909644" y="4677563"/>
                </a:lnTo>
                <a:lnTo>
                  <a:pt x="0" y="46775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662316" y="2139456"/>
            <a:ext cx="1590621" cy="1191376"/>
          </a:xfrm>
          <a:custGeom>
            <a:avLst/>
            <a:gdLst/>
            <a:ahLst/>
            <a:cxnLst/>
            <a:rect r="r" b="b" t="t" l="l"/>
            <a:pathLst>
              <a:path h="1191376" w="1590621">
                <a:moveTo>
                  <a:pt x="0" y="0"/>
                </a:moveTo>
                <a:lnTo>
                  <a:pt x="1590621" y="0"/>
                </a:lnTo>
                <a:lnTo>
                  <a:pt x="1590621" y="1191377"/>
                </a:lnTo>
                <a:lnTo>
                  <a:pt x="0" y="11913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11476" y="8599800"/>
            <a:ext cx="1429900" cy="757000"/>
          </a:xfrm>
          <a:custGeom>
            <a:avLst/>
            <a:gdLst/>
            <a:ahLst/>
            <a:cxnLst/>
            <a:rect r="r" b="b" t="t" l="l"/>
            <a:pathLst>
              <a:path h="757000" w="1429900">
                <a:moveTo>
                  <a:pt x="0" y="0"/>
                </a:moveTo>
                <a:lnTo>
                  <a:pt x="1429900" y="0"/>
                </a:lnTo>
                <a:lnTo>
                  <a:pt x="1429900" y="757000"/>
                </a:lnTo>
                <a:lnTo>
                  <a:pt x="0" y="757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" y="1425800"/>
            <a:ext cx="18287984" cy="156002"/>
            <a:chOff x="0" y="0"/>
            <a:chExt cx="24383979" cy="2080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889" y="381"/>
              <a:ext cx="24383111" cy="207645"/>
            </a:xfrm>
            <a:custGeom>
              <a:avLst/>
              <a:gdLst/>
              <a:ahLst/>
              <a:cxnLst/>
              <a:rect r="r" b="b" t="t" l="l"/>
              <a:pathLst>
                <a:path h="207645" w="24383111">
                  <a:moveTo>
                    <a:pt x="0" y="0"/>
                  </a:moveTo>
                  <a:lnTo>
                    <a:pt x="0" y="207645"/>
                  </a:lnTo>
                  <a:lnTo>
                    <a:pt x="24383111" y="207645"/>
                  </a:lnTo>
                  <a:lnTo>
                    <a:pt x="24383111" y="0"/>
                  </a:lnTo>
                  <a:close/>
                </a:path>
              </a:pathLst>
            </a:custGeom>
            <a:solidFill>
              <a:srgbClr val="722420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426450" y="1569098"/>
            <a:ext cx="1296752" cy="1761756"/>
          </a:xfrm>
          <a:custGeom>
            <a:avLst/>
            <a:gdLst/>
            <a:ahLst/>
            <a:cxnLst/>
            <a:rect r="r" b="b" t="t" l="l"/>
            <a:pathLst>
              <a:path h="1761756" w="1296752">
                <a:moveTo>
                  <a:pt x="0" y="0"/>
                </a:moveTo>
                <a:lnTo>
                  <a:pt x="1296752" y="0"/>
                </a:lnTo>
                <a:lnTo>
                  <a:pt x="1296752" y="1761756"/>
                </a:lnTo>
                <a:lnTo>
                  <a:pt x="0" y="17617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0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80250" y="-381000"/>
            <a:ext cx="20448476" cy="11268850"/>
          </a:xfrm>
          <a:custGeom>
            <a:avLst/>
            <a:gdLst/>
            <a:ahLst/>
            <a:cxnLst/>
            <a:rect r="r" b="b" t="t" l="l"/>
            <a:pathLst>
              <a:path h="11268850" w="20448476">
                <a:moveTo>
                  <a:pt x="0" y="0"/>
                </a:moveTo>
                <a:lnTo>
                  <a:pt x="20448476" y="0"/>
                </a:lnTo>
                <a:lnTo>
                  <a:pt x="20448476" y="11268850"/>
                </a:lnTo>
                <a:lnTo>
                  <a:pt x="0" y="112688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09720" y="1254098"/>
            <a:ext cx="15225150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>
                <a:solidFill>
                  <a:srgbClr val="421B1A"/>
                </a:solidFill>
                <a:latin typeface="Abril Fatface"/>
                <a:ea typeface="Abril Fatface"/>
                <a:cs typeface="Abril Fatface"/>
                <a:sym typeface="Abril Fatface"/>
              </a:rPr>
              <a:t>Apr</a:t>
            </a:r>
            <a:r>
              <a:rPr lang="en-US" sz="6000">
                <a:solidFill>
                  <a:srgbClr val="421B1A"/>
                </a:solidFill>
                <a:latin typeface="Abril Fatface"/>
                <a:ea typeface="Abril Fatface"/>
                <a:cs typeface="Abril Fatface"/>
                <a:sym typeface="Abril Fatface"/>
              </a:rPr>
              <a:t>endizajes </a:t>
            </a:r>
          </a:p>
          <a:p>
            <a:pPr algn="ctr">
              <a:lnSpc>
                <a:spcPts val="720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348522" y="4185700"/>
            <a:ext cx="5604380" cy="3877257"/>
          </a:xfrm>
          <a:custGeom>
            <a:avLst/>
            <a:gdLst/>
            <a:ahLst/>
            <a:cxnLst/>
            <a:rect r="r" b="b" t="t" l="l"/>
            <a:pathLst>
              <a:path h="3877257" w="5604380">
                <a:moveTo>
                  <a:pt x="0" y="0"/>
                </a:moveTo>
                <a:lnTo>
                  <a:pt x="5604380" y="0"/>
                </a:lnTo>
                <a:lnTo>
                  <a:pt x="5604380" y="3877257"/>
                </a:lnTo>
                <a:lnTo>
                  <a:pt x="0" y="38772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78600" y="3086100"/>
            <a:ext cx="4249950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19"/>
              </a:lnSpc>
            </a:pPr>
            <a:r>
              <a:rPr lang="en-US" sz="3099">
                <a:solidFill>
                  <a:srgbClr val="421B1A"/>
                </a:solidFill>
                <a:latin typeface="Abril Fatface"/>
                <a:ea typeface="Abril Fatface"/>
                <a:cs typeface="Abril Fatface"/>
                <a:sym typeface="Abril Fatface"/>
              </a:rPr>
              <a:t>SQL Serv</a:t>
            </a:r>
            <a:r>
              <a:rPr lang="en-US" sz="3099">
                <a:solidFill>
                  <a:srgbClr val="421B1A"/>
                </a:solidFill>
                <a:latin typeface="Abril Fatface"/>
                <a:ea typeface="Abril Fatface"/>
                <a:cs typeface="Abril Fatface"/>
                <a:sym typeface="Abril Fatface"/>
              </a:rPr>
              <a:t>er sostiene la lógica de Libris</a:t>
            </a:r>
          </a:p>
          <a:p>
            <a:pPr algn="r">
              <a:lnSpc>
                <a:spcPts val="371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78600" y="6114803"/>
            <a:ext cx="4249950" cy="168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799">
                <a:solidFill>
                  <a:srgbClr val="421B1A"/>
                </a:solidFill>
                <a:latin typeface="Inter"/>
                <a:ea typeface="Inter"/>
                <a:cs typeface="Inter"/>
                <a:sym typeface="Inter"/>
              </a:rPr>
              <a:t>Da</a:t>
            </a:r>
            <a:r>
              <a:rPr lang="en-US" sz="2799">
                <a:solidFill>
                  <a:srgbClr val="421B1A"/>
                </a:solidFill>
                <a:latin typeface="Inter"/>
                <a:ea typeface="Inter"/>
                <a:cs typeface="Inter"/>
                <a:sym typeface="Inter"/>
              </a:rPr>
              <a:t>tos relacionados, seguridad y búsquedas con IA local.</a:t>
            </a:r>
          </a:p>
          <a:p>
            <a:pPr algn="r">
              <a:lnSpc>
                <a:spcPts val="335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684920" y="3038475"/>
            <a:ext cx="4249950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421B1A"/>
                </a:solidFill>
                <a:latin typeface="Inter"/>
                <a:ea typeface="Inter"/>
                <a:cs typeface="Inter"/>
                <a:sym typeface="Inter"/>
              </a:rPr>
              <a:t>La</a:t>
            </a:r>
            <a:r>
              <a:rPr lang="en-US" sz="2799">
                <a:solidFill>
                  <a:srgbClr val="421B1A"/>
                </a:solidFill>
                <a:latin typeface="Inter"/>
                <a:ea typeface="Inter"/>
                <a:cs typeface="Inter"/>
                <a:sym typeface="Inter"/>
              </a:rPr>
              <a:t>s pruebas permiten explicar tanto las mejoras como los errores.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AutoShape 8" id="8"/>
          <p:cNvSpPr/>
          <p:nvPr/>
        </p:nvSpPr>
        <p:spPr>
          <a:xfrm rot="2700000">
            <a:off x="5444735" y="4335725"/>
            <a:ext cx="2792930" cy="19050"/>
          </a:xfrm>
          <a:prstGeom prst="line">
            <a:avLst/>
          </a:prstGeom>
          <a:ln cap="rnd" w="19050">
            <a:solidFill>
              <a:srgbClr val="421B1A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9" id="9"/>
          <p:cNvSpPr/>
          <p:nvPr/>
        </p:nvSpPr>
        <p:spPr>
          <a:xfrm flipV="true">
            <a:off x="5781375" y="6739350"/>
            <a:ext cx="1791075" cy="66487"/>
          </a:xfrm>
          <a:prstGeom prst="line">
            <a:avLst/>
          </a:prstGeom>
          <a:ln cap="rnd" w="19050">
            <a:solidFill>
              <a:srgbClr val="421B1A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0" id="10"/>
          <p:cNvSpPr/>
          <p:nvPr/>
        </p:nvSpPr>
        <p:spPr>
          <a:xfrm rot="8628425">
            <a:off x="9337080" y="4360325"/>
            <a:ext cx="3427739" cy="19050"/>
          </a:xfrm>
          <a:prstGeom prst="line">
            <a:avLst/>
          </a:prstGeom>
          <a:ln cap="rnd" w="19050">
            <a:solidFill>
              <a:srgbClr val="421B1A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1" id="11"/>
          <p:cNvSpPr/>
          <p:nvPr/>
        </p:nvSpPr>
        <p:spPr>
          <a:xfrm rot="965953">
            <a:off x="11064813" y="6534975"/>
            <a:ext cx="1396674" cy="19050"/>
          </a:xfrm>
          <a:prstGeom prst="line">
            <a:avLst/>
          </a:prstGeom>
          <a:ln cap="rnd" w="19050">
            <a:solidFill>
              <a:srgbClr val="421B1A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277726" y="1576776"/>
            <a:ext cx="1429900" cy="757000"/>
          </a:xfrm>
          <a:custGeom>
            <a:avLst/>
            <a:gdLst/>
            <a:ahLst/>
            <a:cxnLst/>
            <a:rect r="r" b="b" t="t" l="l"/>
            <a:pathLst>
              <a:path h="757000" w="1429900">
                <a:moveTo>
                  <a:pt x="0" y="0"/>
                </a:moveTo>
                <a:lnTo>
                  <a:pt x="1429900" y="0"/>
                </a:lnTo>
                <a:lnTo>
                  <a:pt x="1429900" y="757000"/>
                </a:lnTo>
                <a:lnTo>
                  <a:pt x="0" y="75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056866" y="8281756"/>
            <a:ext cx="1590621" cy="1191376"/>
          </a:xfrm>
          <a:custGeom>
            <a:avLst/>
            <a:gdLst/>
            <a:ahLst/>
            <a:cxnLst/>
            <a:rect r="r" b="b" t="t" l="l"/>
            <a:pathLst>
              <a:path h="1191376" w="1590621">
                <a:moveTo>
                  <a:pt x="0" y="0"/>
                </a:moveTo>
                <a:lnTo>
                  <a:pt x="1590621" y="0"/>
                </a:lnTo>
                <a:lnTo>
                  <a:pt x="1590621" y="1191377"/>
                </a:lnTo>
                <a:lnTo>
                  <a:pt x="0" y="119137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DAHYiQxyINM</dc:identifier>
  <dcterms:modified xsi:type="dcterms:W3CDTF">2011-08-01T06:04:30Z</dcterms:modified>
  <cp:revision>1</cp:revision>
  <dc:title>Copia de National Library Workers Day XL by Slidesgo.pptx</dc:title>
</cp:coreProperties>
</file>